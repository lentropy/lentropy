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 — 약 1분]</a:t>
            </a:r>
          </a:p>
          <a:p/>
          <a:p>
            <a:r>
              <a:t>안녕하세요. 오늘은 NAC, 즉 네트워크 접근 제어 시스템의 개념과 활용 방안,</a:t>
            </a:r>
          </a:p>
          <a:p>
            <a:r>
              <a:t>그리고 저희가 직접 개발한 LEntropy NAC 플랫폼의 개발 개요를 소개해 드리겠습니다.</a:t>
            </a:r>
          </a:p>
          <a:p>
            <a:r>
              <a:t>발표는 총 30분으로 진행되며, 이론 개념 → 기술 원리 → 실무 활용 → 개발 구현 순서로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[목차 — 약 30초]</a:t>
            </a:r>
          </a:p>
          <a:p/>
          <a:p>
            <a:r>
              <a:t>발표는 크게 5개 파트로 구성됩니다.</a:t>
            </a:r>
          </a:p>
          <a:p>
            <a:r>
              <a:t>1부 개념: NAC 정의와 필요성 배경을 설명합니다.</a:t>
            </a:r>
          </a:p>
          <a:p>
            <a:r>
              <a:t>2부 원리: 동작 원리와 함께 기술적 한계, 주요 기능 명세를 다룹니다.</a:t>
            </a:r>
          </a:p>
          <a:p>
            <a:r>
              <a:t>3부 활용: 제어 방식 비교, 산업별 활용, 상용솔루션 비교를 다룹니다.</a:t>
            </a:r>
          </a:p>
          <a:p>
            <a:r>
              <a:t>4부 개발: 실제 구현 아키텍처와 구현 현황을 설명합니다.</a:t>
            </a:r>
          </a:p>
          <a:p>
            <a:r>
              <a:t>5부 결론: 보안 고려사항과 로드맵을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[NAC 정의 — 약 2분]</a:t>
            </a:r>
          </a:p>
          <a:p/>
          <a:p>
            <a:r>
              <a:t>NAC는 네트워크 접근 제어(Network Access Control)의 약자입니다.</a:t>
            </a:r>
          </a:p>
          <a:p>
            <a:r>
              <a:t>한 마디로 정의하면, 네트워크에 접속하려는 모든 장치를 식별하고, 인증하고, 검사하여 보안 정책에 따라 접속을 허용하거나 차단하는 보안 시스템입니다.</a:t>
            </a:r>
          </a:p>
          <a:p/>
          <a:p>
            <a:r>
              <a:t>핵심 기능은 4가지입니다.</a:t>
            </a:r>
          </a:p>
          <a:p>
            <a:r>
              <a:t>첫째, 식별 — 네트워크에 연결된 모든 장치를 자동으로 탐지합니다.</a:t>
            </a:r>
          </a:p>
          <a:p>
            <a:r>
              <a:t>둘째, 인증 — 802.1x 표준이나 LDAP을 통해 사용자와 장치의 신원을 확인합니다.</a:t>
            </a:r>
          </a:p>
          <a:p>
            <a:r>
              <a:t>셋째, 정책 — 단말의 보안 상태에 따라 접근 수준을 다르게 적용합니다.</a:t>
            </a:r>
          </a:p>
          <a:p>
            <a:r>
              <a:t>넷째, 제어 — 정책을 위반한 장치를 실시간으로 차단하거나 격리합니다.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[필요성과 배경 — 약 2분 30초]</a:t>
            </a:r>
          </a:p>
          <a:p/>
          <a:p>
            <a:r>
              <a:t>현대 기업 네트워크는 경계가 사라졌습니다.</a:t>
            </a:r>
          </a:p>
          <a:p>
            <a:r>
              <a:t>재택근무 확산, BYOD, IoT 폭증으로 '신뢰할 수 있는 내부망'이라는 개념이 무너졌습니다.</a:t>
            </a:r>
          </a:p>
          <a:p/>
          <a:p>
            <a:r>
              <a:t>2023년 IBM 보고서에 따르면 데이터 침해 한 건당 평균 44억 원이 넘는 손실이 발생합니다.</a:t>
            </a:r>
          </a:p>
          <a:p>
            <a:r>
              <a:t>Verizon DBIR은 침해의 74%가 사람 요소, 즉 내부자 실수나 도용된 계정에서 비롯된다고 밝혔습니다.</a:t>
            </a:r>
          </a:p>
          <a:p/>
          <a:p>
            <a:r>
              <a:t>여기서 최신 보안 패러다임이 등장합니다. Zero Trust입니다.</a:t>
            </a:r>
          </a:p>
          <a:p>
            <a:r>
              <a:t>내부망이라도 신뢰하지 않고, 접속하는 모든 장치를 항상 검증하자는 원칙입니다.</a:t>
            </a:r>
          </a:p>
          <a:p>
            <a:r>
              <a:t>NAC는 바로 이 Zero Trust를 네트워크 레이어에서 구현하는 핵심 수단입니다.</a:t>
            </a:r>
          </a:p>
          <a:p/>
          <a:p>
            <a:r>
              <a:t>또한 개인정보보호법과 ISMS-P 등 법적 요구사항도 강화되어,</a:t>
            </a:r>
          </a:p>
          <a:p>
            <a:r>
              <a:t>비인가 장치 접속 차단과 감사 로그 보존이 법적 의무가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[동작 원리 — 약 3분]</a:t>
            </a:r>
          </a:p>
          <a:p/>
          <a:p>
            <a:r>
              <a:t>NAC의 동작은 5단계로 이루어집니다.</a:t>
            </a:r>
          </a:p>
          <a:p/>
          <a:p>
            <a:r>
              <a:t>1단계 탐지: 장치가 네트워크에 연결되는 순간, ARP 브로드캐스트나 DHCP 요청을 통해 자동으로 감지됩니다.</a:t>
            </a:r>
          </a:p>
          <a:p>
            <a:r>
              <a:t>2단계 식별: MAC 주소, IP, OS 종류를 수집합니다. 에이전트 없이도 DHCP 옵션 분석으로 OS를 구분할 수 있습니다.</a:t>
            </a:r>
          </a:p>
          <a:p>
            <a:r>
              <a:t>3단계 인증: 802.1x 프로토콜로 RADIUS 서버에 인증을 요청하거나, 웹 브라우저를 캡티브 포털로 리다이렉트합니다.</a:t>
            </a:r>
          </a:p>
          <a:p>
            <a:r>
              <a:t>4단계 정책 평가: 보안 패치, 암호화 설정, 화이트리스트 등록 여부 등을 검사합니다.</a:t>
            </a:r>
          </a:p>
          <a:p>
            <a:r>
              <a:t>5단계 제어: 검사 결과에 따라 허용, 차단, 또는 격리 네트워크로 이동시킵니다.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[기술적 한계 — 약 2분 30초]</a:t>
            </a:r>
          </a:p>
          <a:p/>
          <a:p>
            <a:r>
              <a:t>NAC는 강력한 도구이지만 기술적 한계를 명확히 이해해야 합니다.</a:t>
            </a:r>
          </a:p>
          <a:p/>
          <a:p>
            <a:r>
              <a:t>가장 심각한 제약은 ARP 스푸핑 우회입니다.</a:t>
            </a:r>
          </a:p>
          <a:p>
            <a:r>
              <a:t>엔터프라이즈 스위치에서 DAI가 활성화되면 ARP 스푸핑이 스위치 레이어에서 차단됩니다.</a:t>
            </a:r>
          </a:p>
          <a:p>
            <a:r>
              <a:t>이 경우 VLAN 동적 변경이나 802.1x 포트 비활성화로 전환해야 합니다.</a:t>
            </a:r>
          </a:p>
          <a:p/>
          <a:p>
            <a:r>
              <a:t>MAC 스푸핑은 화이트리스트 기반 NAC의 근본적 약점입니다.</a:t>
            </a:r>
          </a:p>
          <a:p>
            <a:r>
              <a:t>이를 해결하려면 MAC 주소 외에 인증서 기반 EAP-TLS나 행동 기반 핑거프린팅을 사용해야 합니다.</a:t>
            </a:r>
          </a:p>
          <a:p/>
          <a:p>
            <a:r>
              <a:t>에이전트 삭제 문제는 중요한 Q&amp;A 단골 질문입니다.</a:t>
            </a:r>
          </a:p>
          <a:p>
            <a:r>
              <a:t>에이전트를 삭제해도 enforcement의 ARP 스푸핑 차단은 계속 동작합니다.</a:t>
            </a:r>
          </a:p>
          <a:p>
            <a:r>
              <a:t>에이전트는 컴플라이언스 정보 수집 용도이고, 네트워크 차단은 별개로 동작합니다.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[주요 기능 명세 — 약 2분]</a:t>
            </a:r>
          </a:p>
          <a:p/>
          <a:p>
            <a:r>
              <a:t>LEntropy NAC의 6대 핵심 기능을 설명합니다.</a:t>
            </a:r>
          </a:p>
          <a:p/>
          <a:p>
            <a:r>
              <a:t>단말 탐지/식별은 네트워크에 연결되는 순간 자동으로 동작합니다. 에이전트가 없어도 됩니다.</a:t>
            </a:r>
          </a:p>
          <a:p/>
          <a:p>
            <a:r>
              <a:t>인증 관리는 802.1x RADIUS와 LDAP를 지원합니다. 현재는 Mock LDAP이지만 LDAP_URL 환경변수만 설정하면 실제 AD와 연동됩니다.</a:t>
            </a:r>
          </a:p>
          <a:p/>
          <a:p>
            <a:r>
              <a:t>정책 엔진은 우선순위 기반입니다. 조건을 AND/OR/NOT으로 조합하여 복잡한 정책도 표현할 수 있습니다.</a:t>
            </a:r>
          </a:p>
          <a:p/>
          <a:p>
            <a:r>
              <a:t>접근 제어는 세 단계입니다. Allow는 정상 접속, Block은 완전 차단, Quarantine은 격리망으로 이동입니다.</a:t>
            </a:r>
          </a:p>
          <a:p/>
          <a:p>
            <a:r>
              <a:t>컴플라이언스는 에이전트가 설치된 경우에 활용됩니다. OS 버전, 암호화, 패치 상태를 주기적으로 체크합니다.</a:t>
            </a:r>
          </a:p>
          <a:p/>
          <a:p>
            <a:r>
              <a:t>감사 로그는 모든 이벤트를 자동 기록하여 법적 증거로 활용할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[두 가지 방식 — 약 3분]</a:t>
            </a:r>
          </a:p>
          <a:p/>
          <a:p>
            <a:r>
              <a:t>NAC는 두 가지 방식으로 동작합니다.</a:t>
            </a:r>
          </a:p>
          <a:p/>
          <a:p>
            <a:r>
              <a:t>에이전트리스 방식은 PC에 아무것도 설치하지 않습니다.</a:t>
            </a:r>
          </a:p>
          <a:p>
            <a:r>
              <a:t>네트워크 스위치에 흐르는 ARP, DHCP 패킷을 sensor 서비스가 수동으로 감청하여 장치를 탐지합니다.</a:t>
            </a:r>
          </a:p>
          <a:p>
            <a:r>
              <a:t>차단이 필요하면 enforcement 서비스가 ARP 스푸핑을 실행합니다.</a:t>
            </a:r>
          </a:p>
          <a:p/>
          <a:p>
            <a:r>
              <a:t>에이전트 기반 방식은 PC에 endpoint-agent 프로그램을 설치합니다.</a:t>
            </a:r>
          </a:p>
          <a:p>
            <a:r>
              <a:t>에이전트는 30~60초마다 자신의 보안 상태를 gRPC로 서버에 보고합니다.</a:t>
            </a:r>
          </a:p>
          <a:p>
            <a:r>
              <a:t>중요한 점은, 에이전트 자체는 네트워크를 끊지 않습니다.</a:t>
            </a:r>
          </a:p>
          <a:p>
            <a:r>
              <a:t>차단 결정은 policy-manager가 하고, 실행은 enforcement가 합니다.</a:t>
            </a:r>
          </a:p>
          <a:p/>
          <a:p>
            <a:r>
              <a:t>두 방식은 함께 사용할 수 있으며, 에이전트 설치 여부에 따라 얻을 수 있는 정보의 깊이가 달라집니다.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[활용 방안 — 약 2분]</a:t>
            </a:r>
          </a:p>
          <a:p/>
          <a:p>
            <a:r>
              <a:t>NAC는 특정 산업에 국한되지 않고 네트워크가 있는 모든 환경에 적용됩니다.</a:t>
            </a:r>
          </a:p>
          <a:p/>
          <a:p>
            <a:r>
              <a:t>기업 환경에서는 직원 개인 기기 접속 정책 집행과 퇴직자 장치의 즉시 차단이 주요 사용 사례입니다.</a:t>
            </a:r>
          </a:p>
          <a:p>
            <a:r>
              <a:t>교육기관은 학생과 교직원의 네트워크 권한을 자동으로 분리합니다.</a:t>
            </a:r>
          </a:p>
          <a:p>
            <a:r>
              <a:t>병원은 의료기기를 별도 망에 격리하여 랜섬웨어 공격으로부터 보호합니다.</a:t>
            </a:r>
          </a:p>
          <a:p>
            <a:r>
              <a:t>제조 공장은 OT 네트워크와 IT 네트워크를 분리하여 산업 제어 시스템을 보호합니다.</a:t>
            </a:r>
          </a:p>
          <a:p>
            <a:r>
              <a:t>공공기관은 법적 감사 요건을 충족하기 위한 접속 이력 보존에 활용합니다.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[기업 환경 시나리오 — 약 3분]</a:t>
            </a:r>
          </a:p>
          <a:p/>
          <a:p>
            <a:r>
              <a:t>실제 기업 환경에서 발생하는 4가지 대표 시나리오를 설명합니다.</a:t>
            </a:r>
          </a:p>
          <a:p/>
          <a:p>
            <a:r>
              <a:t>첫 번째, BYOD 직원 스마트폰입니다. 스마트폰이 Wi-Fi에 연결되면 캡티브 포털이 표시됩니다. 회사 계정으로 로그인하면 업무망에 접속되고, 그렇지 않으면 게스트 영역으로 격리됩니다.</a:t>
            </a:r>
          </a:p>
          <a:p/>
          <a:p>
            <a:r>
              <a:t>두 번째, 협력업체 방문자입니다. 방문자 노트북이 연결되면 화이트리스트를 확인합니다. 미등록 장치는 즉시 차단됩니다.</a:t>
            </a:r>
          </a:p>
          <a:p/>
          <a:p>
            <a:r>
              <a:t>세 번째, 퇴직자 장치 접속입니다. 퇴직자의 AD 계정이 비활성화되면 RADIUS 인증이 거부됩니다.</a:t>
            </a:r>
          </a:p>
          <a:p/>
          <a:p>
            <a:r>
              <a:t>네 번째, 악성코드 감염 PC입니다. endpoint-agent가 이상 징후를 감지하여 서버에 보고하면, policy-manager가 해당 장치를 즉시 격리합니다.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[상용 솔루션 비교 — 약 2분 30초]</a:t>
            </a:r>
          </a:p>
          <a:p/>
          <a:p>
            <a:r>
              <a:t>주요 상용 NAC 솔루션과 LEntropy를 비교합니다.</a:t>
            </a:r>
          </a:p>
          <a:p/>
          <a:p>
            <a:r>
              <a:t>Cisco ISE는 가장 완성도 높은 솔루션이지만 가격이 매우 높고, Cisco 인프라가 이미 갖춰진 환경에 최적화되어 있습니다.</a:t>
            </a:r>
          </a:p>
          <a:p/>
          <a:p>
            <a:r>
              <a:t>Aruba ClearPass는 HPE Aruba Wi-Fi 장비와의 통합에 특화되어 있어 대규모 캠퍼스 환경에 주로 사용됩니다.</a:t>
            </a:r>
          </a:p>
          <a:p/>
          <a:p>
            <a:r>
              <a:t>FortiNAC는 Fortinet 보안 패브릭과 연동이 탁월하여 FortiGate 방화벽을 사용하는 환경에 적합합니다.</a:t>
            </a:r>
          </a:p>
          <a:p/>
          <a:p>
            <a:r>
              <a:t>Forescout은 에이전트리스 방식의 강자로, 에이전트 설치가 어려운 OT/IoT 환경에서 강점을 보입니다.</a:t>
            </a:r>
          </a:p>
          <a:p/>
          <a:p>
            <a:r>
              <a:t>LEntropy는 오픈소스 경량 솔루션으로, 도커 컨테이너 한 명령으로 즉시 배포 가능하고 이중 제어 방식을 모두 지원합니다.</a:t>
            </a:r>
          </a:p>
          <a:p>
            <a:r>
              <a:t>VLAN 동적 제어와 AI 이상탐지는 로드맵에 포함되어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[아키텍처 개요 — 약 3분]</a:t>
            </a:r>
          </a:p>
          <a:p/>
          <a:p>
            <a:r>
              <a:t>이것이 LEntropy NAC 플랫폼의 전체 아키텍처입니다.</a:t>
            </a:r>
          </a:p>
          <a:p>
            <a:r>
              <a:t>크게 세 층으로 구성됩니다.</a:t>
            </a:r>
          </a:p>
          <a:p/>
          <a:p>
            <a:r>
              <a:t>상단은 외부 접점입니다. Wi-Fi/스위치는 RADIUS로, PC 에이전트는 gRPC로, 관리자 브라우저는 HTTPS로 플랫폼에 연결됩니다.</a:t>
            </a:r>
          </a:p>
          <a:p/>
          <a:p>
            <a:r>
              <a:t>중간은 서비스 레이어입니다. aaa 서비스가 RADIUS 인증을 담당하고, agent-gateway가 에이전트와 gRPC 통신을 합니다. api-gateway는 JWT 인증 후 policy-manager로 요청을 프록시합니다. policy-manager가 핵심 엔진으로 모든 정책 결정을 내립니다.</a:t>
            </a:r>
          </a:p>
          <a:p/>
          <a:p>
            <a:r>
              <a:t>하단은 네트워크 레벨 서비스입니다. sensor가 패킷을 감청하고, enforcement가 ARP 스푸핑으로 차단하며, dhcp가 IP를 할당합니다.</a:t>
            </a:r>
          </a:p>
          <a:p/>
          <a:p>
            <a:r>
              <a:t>이 모든 서비스가 NATS 이벤트 버스를 통해 비동기적으로 통신합니다.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[기술 스택 — 약 2분]</a:t>
            </a:r>
          </a:p>
          <a:p/>
          <a:p>
            <a:r>
              <a:t>백엔드는 Rust로 작성되었습니다. 네트워크 패킷 처리, ARP 스푸핑 같은 시스템 레벨 작업에 C 수준의 성능이 필요하면서도, 메모리 안전성을 컴파일러가 보장해주기 때문입니다.</a:t>
            </a:r>
          </a:p>
          <a:p/>
          <a:p>
            <a:r>
              <a:t>프론트엔드는 React와 TypeScript로 개발했습니다. 관리자가 실시간으로 단말 상태를 모니터링하고 정책을 변경할 수 있는 SPA입니다.</a:t>
            </a:r>
          </a:p>
          <a:p/>
          <a:p>
            <a:r>
              <a:t>프로토콜은 업계 표준을 따릅니다. 802.1x RADIUS, gRPC, DHCP 모두 RFC 표준 구현입니다.</a:t>
            </a:r>
          </a:p>
          <a:p/>
          <a:p>
            <a:r>
              <a:t>배포는 로컬 개발 환경은 Docker Compose, 프로덕션은 Kubernetes Helm 차트로 패키징되어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[구현 현황 — 약 2분]</a:t>
            </a:r>
          </a:p>
          <a:p/>
          <a:p>
            <a:r>
              <a:t>총 10개 서비스와 2개 Rust 크레이트 라이브러리가 구현되어 있습니다.</a:t>
            </a:r>
          </a:p>
          <a:p>
            <a:r>
              <a:t>핵심 기능은 모두 완료 상태입니다.</a:t>
            </a:r>
          </a:p>
          <a:p/>
          <a:p>
            <a:r>
              <a:t>완료된 항목은 그린으로 표시됩니다. policy-manager부터 admin-console까지 전체 파이프라인이 동작합니다.</a:t>
            </a:r>
          </a:p>
          <a:p/>
          <a:p>
            <a:r>
              <a:t>오렌지로 표시된 항목은 부분 구현입니다.</a:t>
            </a:r>
          </a:p>
          <a:p>
            <a:r>
              <a:t>EAP-TLS/PEAP는 802.1x의 전체 TLS 핸드셰이크 구조는 작성되었지만, 실제 인증서를 연동하려면 추가 설정이 필요합니다.</a:t>
            </a:r>
          </a:p>
          <a:p>
            <a:r>
              <a:t>LDAP 연동은 Mock 모드로 구현되어 있어, 환경변수에 LDAP_URL을 설정하면 실제 AD와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[데모 시나리오 — 약 4분]</a:t>
            </a:r>
          </a:p>
          <a:p/>
          <a:p>
            <a:r>
              <a:t>실제 테스트는 이 5단계로 진행됩니다.</a:t>
            </a:r>
          </a:p>
          <a:p/>
          <a:p>
            <a:r>
              <a:t>1단계: docker compose up -d 명령 한 번으로 8개 서비스가 자동으로 시작됩니다.</a:t>
            </a:r>
          </a:p>
          <a:p>
            <a:r>
              <a:t>2단계: 브라우저에서 Admin Console에 접속합니다. 로그인하면 JWT 토큰이 발급됩니다.</a:t>
            </a:r>
          </a:p>
          <a:p>
            <a:r>
              <a:t>3단계: Windows PC에서 endpoint-agent.exe를 실행합니다. 30초 후 Endpoints 목록에 해당 PC가 자동으로 등록됩니다.</a:t>
            </a:r>
          </a:p>
          <a:p>
            <a:r>
              <a:t>4단계: 관리자가 단말을 허용, 차단, 격리 상태로 변경하거나 정책 평가를 실행하여 전체 단말에 일괄 정책을 적용합니다.</a:t>
            </a:r>
          </a:p>
          <a:p>
            <a:r>
              <a:t>5단계: radtest 명령으로 RADIUS 인증을 테스트합니다.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[보안 고려사항 — 약 2분]</a:t>
            </a:r>
          </a:p>
          <a:p/>
          <a:p>
            <a:r>
              <a:t>현재 코드는 개발 편의를 위해 기본값이 설정되어 있습니다.</a:t>
            </a:r>
          </a:p>
          <a:p>
            <a:r>
              <a:t>프로덕션 환경에 배포하기 전에 반드시 변경해야 할 항목들입니다.</a:t>
            </a:r>
          </a:p>
          <a:p/>
          <a:p>
            <a:r>
              <a:t>빨간색으로 표시된 세 항목은 반드시 변경해야 합니다.</a:t>
            </a:r>
          </a:p>
          <a:p>
            <a:r>
              <a:t>JWT 시크릿, RADIUS 시크릿, 관리자 비밀번호는 기본값으로 두면 즉시 공격에 노출됩니다.</a:t>
            </a:r>
          </a:p>
          <a:p/>
          <a:p>
            <a:r>
              <a:t>주황색 항목은 운영 환경 설정입니다.</a:t>
            </a:r>
          </a:p>
          <a:p>
            <a:r>
              <a:t>PostgreSQL 비밀번호 강화, TLS 인증서 적용, RADIUS 포트 방화벽 제한이 여기에 해당합니다.</a:t>
            </a:r>
          </a:p>
          <a:p/>
          <a:p>
            <a:r>
              <a:t>시안색 항목은 아키텍처 관련 고려사항입니다.</a:t>
            </a:r>
          </a:p>
          <a:p>
            <a:r>
              <a:t>sensor와 enforcement는 raw socket을 사용하므로 NET_RAW 권한이 필요하고, 보안상 전용 노드에 격리하는 것이 권장됩니다.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[향후 로드맵 — 약 2분]</a:t>
            </a:r>
          </a:p>
          <a:p/>
          <a:p>
            <a:r>
              <a:t>개발 로드맵은 3단계로 구성됩니다.</a:t>
            </a:r>
          </a:p>
          <a:p/>
          <a:p>
            <a:r>
              <a:t>Phase 1은 현재 부분 구현된 기능을 완성하는 단계입니다.</a:t>
            </a:r>
          </a:p>
          <a:p>
            <a:r>
              <a:t>Phase 2는 엔터프라이즈 기능 확장입니다. VLAN 동적 할당과 CVE 피드 연동이 포함됩니다.</a:t>
            </a:r>
          </a:p>
          <a:p>
            <a:r>
              <a:t>Phase 3는 지능화 단계입니다. 기계학습 모델로 네트워크 이상 행위를 탐지하고 SIEM과 연동합니다.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가치 요약 — 약 2분]</a:t>
            </a:r>
          </a:p>
          <a:p/>
          <a:p>
            <a:r>
              <a:t>LEntropy NAC Platform의 핵심 가치 여섯 가지를 정리하겠습니다.</a:t>
            </a:r>
          </a:p>
          <a:p/>
          <a:p>
            <a:r>
              <a:t>첫째, 즉시 배포 가능합니다. docker compose up 명령 하나로 전체 스택이 올라옵니다.</a:t>
            </a:r>
          </a:p>
          <a:p>
            <a:r>
              <a:t>둘째, 이중 제어 방식입니다. 에이전트 설치 여부와 관계없이 모든 장치를 제어할 수 있습니다.</a:t>
            </a:r>
          </a:p>
          <a:p>
            <a:r>
              <a:t>셋째, 완전한 가시성입니다. 누가 언제 어떤 장치로 접속했는지 모든 이력이 자동 기록됩니다.</a:t>
            </a:r>
          </a:p>
          <a:p>
            <a:r>
              <a:t>넷째, Rust 기반의 고성능입니다. 수만 개의 단말을 최소 리소스로 처리합니다.</a:t>
            </a:r>
          </a:p>
          <a:p>
            <a:r>
              <a:t>다섯째, 클라우드 네이티브입니다. Kubernetes로 어디서든 배포할 수 있습니다.</a:t>
            </a:r>
          </a:p>
          <a:p>
            <a:r>
              <a:t>여섯째, 표준 프로토콜을 사용합니다. 기존 Wi-Fi AP나 스위치와 바로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[Q&amp;A — 약 5분]</a:t>
            </a:r>
          </a:p>
          <a:p/>
          <a:p>
            <a:r>
              <a:t>발표를 들어주셔서 감사합니다.</a:t>
            </a:r>
          </a:p>
          <a:p/>
          <a:p>
            <a:r>
              <a:t>지금까지 NAC의 개념, 필요성/배경, 동작 원리, 기술적 한계, 주요 기능 명세, 상용 솔루션 비교,</a:t>
            </a:r>
          </a:p>
          <a:p>
            <a:r>
              <a:t>그리고 LEntropy NAC 플랫폼의 실제 구현 내용을 설명드렸습니다.</a:t>
            </a:r>
          </a:p>
          <a:p/>
          <a:p>
            <a:r>
              <a:t>[예상 Q&amp;A]</a:t>
            </a:r>
          </a:p>
          <a:p>
            <a:r>
              <a:t>Q: ARP 스푸핑이 스위치 DAI에 의해 막히지 않나요?</a:t>
            </a:r>
          </a:p>
          <a:p>
            <a:r>
              <a:t>A: 맞습니다. 엔터프라이즈 스위치에서 DAI가 활성화되어 있으면 ARP 스푸핑이 차단됩니다.</a:t>
            </a:r>
          </a:p>
          <a:p>
            <a:r>
              <a:t>   이 경우 VLAN 변경이나 802.1x 포트 비활성화를 사용해야 합니다.</a:t>
            </a:r>
          </a:p>
          <a:p>
            <a:r>
              <a:t>   VLAN 동적 제어는 Phase 2 로드맵에 포함되어 있습니다.</a:t>
            </a:r>
          </a:p>
          <a:p/>
          <a:p>
            <a:r>
              <a:t>Q: endpoint-agent가 삭제되면 차단을 우회할 수 있지 않나요?</a:t>
            </a:r>
          </a:p>
          <a:p>
            <a:r>
              <a:t>A: 에이전트 기반 제어는 컴플라이언스 검사 용도가 주 목적입니다.</a:t>
            </a:r>
          </a:p>
          <a:p>
            <a:r>
              <a:t>   실제 네트워크 차단은 에이전트와 무관하게 enforcement 서비스가 ARP 스푸핑으로 수행하므로,</a:t>
            </a:r>
          </a:p>
          <a:p>
            <a:r>
              <a:t>   에이전트를 삭제해도 네트워크 레벨 차단은 계속 동작합니다.</a:t>
            </a:r>
          </a:p>
          <a:p/>
          <a:p>
            <a:r>
              <a:t>Q: 상용 솔루션 대비 LEntropy의 장점은?</a:t>
            </a:r>
          </a:p>
          <a:p>
            <a:r>
              <a:t>A: 오픈소스 무료, 컨테이너 즉시 배포, 이중 제어 방식(에이전트리스+에이전트) 동시 지원이 차별점입니다.</a:t>
            </a:r>
          </a:p>
          <a:p>
            <a:r>
              <a:t>   상용 솔루션은 수천만 원 이상의 라이선스 비용이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0B4D8"/>
                </a:solidFill>
              </a:rPr>
              <a:t>NAC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CCCCC"/>
                </a:solidFill>
              </a:rPr>
              <a:t>Network Access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697480"/>
            <a:ext cx="80467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834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NAC 개념 설명 및 활용 방안과 개발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발표 시간 30분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LEntropy NAC Platform v0.1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2103120" cy="4114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1부  개념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574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NAC 정의
필요성 &amp; 배경
보안 통계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55448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1760" y="1554480"/>
            <a:ext cx="210312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2부  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20574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동작 원리
기술적 한계
주요 기능 명세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55448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1554480"/>
            <a:ext cx="2103120" cy="41148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3부  활용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0574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제어 방식 비교
산업별 활용
상용솔루션 비교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55448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1554480"/>
            <a:ext cx="2103120" cy="4114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4부  개발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0574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아키텍처 &amp; 기술스택
구현 현황 &amp; 데모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5448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9760" y="1554480"/>
            <a:ext cx="2103120" cy="4114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5부 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9488" y="20574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보안 고려사항
로드맵 &amp; 핵심가치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NAC란 무엇인가?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Network Access Control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1430000" cy="10972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64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"네트워크에 접속하려는 모든 장치를 식별·인증·검사하여
정책에 따라 접속을 허용/차단/격리하는 보안 프레임워크"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40"/>
            <a:ext cx="278892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🔍 식별 (Identify)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38328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네트워크에 연결된 모든 장치 탐지
• MAC 주소, IP, OS 정보 수집
• 에이전트 또는 패킷 분석으로 탐지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834640"/>
            <a:ext cx="278892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✅ 인증 (Authenticate)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38328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사용자/장치 신원 확인
• 802.1x RADIUS 프로토콜
• LDAP/AD 계정 연동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834640"/>
            <a:ext cx="278892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🛡️ 정책 (Policy)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338328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단말 상태에 따른 접근 규칙 적용
• 컴플라이언스 검사 (암호화, 패치 등)
• 실시간 정책 변경 반영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2834640"/>
            <a:ext cx="278892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🚫 제어 (Control)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338328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미인증 장치 자동 차단
• 격리 네트워크(VLAN) 이동
• ARP 스푸핑 기반 L2 차단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왜 NAC가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보안 위협 현황 · 규제 환경 · 시장 변화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2788920" cy="1325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2788920" cy="7315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4D6D"/>
                </a:solidFill>
              </a:rPr>
              <a:t>$4.45M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2023 IBM
데이터 침해
평균 비용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572768"/>
            <a:ext cx="2788920" cy="1325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72768"/>
            <a:ext cx="2788920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6420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8C42"/>
                </a:solidFill>
              </a:rPr>
              <a:t>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2023 Verizon DBIR
침해 원인 중
사람 요소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572768"/>
            <a:ext cx="2788920" cy="1325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572768"/>
            <a:ext cx="278892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6420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B4D8"/>
                </a:solidFill>
              </a:rPr>
              <a:t>150억+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2025년 예측
IoT 연결 기기 수
(Statista)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572768"/>
            <a:ext cx="2788920" cy="1325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60" y="1572768"/>
            <a:ext cx="2788920" cy="7315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66420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C89A"/>
                </a:solidFill>
              </a:rPr>
              <a:t>3.5배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2860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재택·하이브리드 근무
도입 이후 BYOD
보안 사고 증가율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63240"/>
            <a:ext cx="114300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063240"/>
            <a:ext cx="109728" cy="65836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36392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🖥️ BYOD 확산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136392"/>
            <a:ext cx="9052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직원 개인 기기(스마트폰·노트북)가 업무망에 무분별하게 접속 — 보안 정책 적용 불가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813048"/>
            <a:ext cx="114300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813048"/>
            <a:ext cx="109728" cy="65836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86200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🌐 IoT 폭증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886200"/>
            <a:ext cx="9052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IP카메라·프린터·스마트 센서 등 관리 불가 장치 급증 — 단일 감염으로 내부망 전체 위험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562856"/>
            <a:ext cx="114300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562856"/>
            <a:ext cx="109728" cy="65836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636008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🦠 내부 위협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636008"/>
            <a:ext cx="9052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악성코드 감염 단말이 내부망을 통해 횡적 이동(Lateral Movement) — 탐지 어려움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312664"/>
            <a:ext cx="114300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312664"/>
            <a:ext cx="109728" cy="65836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385816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📋 규제 강화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51760" y="5385816"/>
            <a:ext cx="9052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개인정보보호법·ISMS-P·의료기관 망분리 의무 — 접근 이력 기록 및 비인가 접속 차단 증거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080760"/>
            <a:ext cx="11430000" cy="53035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12648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 Zero Trust 패러다임 전환 — "신뢰하지 말고, 항상 검증하라 (Never Trust, Always Verify)"  →  NAC는 핵심 구현 수단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NAC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단말 접속부터 정책 적용까지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210312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7335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①  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76272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장치가 네트워크에
연결됨
ARP/DHCP 감지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79" y="164592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79" y="1645920"/>
            <a:ext cx="210312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67335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② 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2176272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MAC 주소, OS,
호스트명 수집
OS 핑거프린팅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164592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1645920"/>
            <a:ext cx="2103120" cy="45720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167335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③ 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176272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802.1x RADIUS
또는 Captive Portal
사용자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19" y="164592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60919" y="1645920"/>
            <a:ext cx="2103120" cy="4572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59" y="167335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④  정책평가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176272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컴플라이언스 검사
화이트리스트 확인
위험도 판정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39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1645920"/>
            <a:ext cx="210312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1645920"/>
            <a:ext cx="2103120" cy="4572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67335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⑤  제어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176272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허용 / 차단 / 격리
ARP 스푸핑 실행
실시간 적용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989320"/>
            <a:ext cx="1143000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035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모든 단계는 실시간으로 처리되며 감사 로그(Audit Log)에 기록됩니다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NAC의 기술적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알아야 할 제약사항과 대응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128016" cy="144475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6642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ARP 스푸핑 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48256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스위치에 DAI(Dynamic ARP Inspection) 또는 포트 보안이 활성화된 경우
ARP 스푸핑이 스위치 자체에서 차단됨  →  VLAN 기반 제어로 전환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72768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72768"/>
            <a:ext cx="128016" cy="144475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6642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MAC 스푸핑 (Spoofing)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048256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공격자가 인증된 단말의 MAC 주소를 복제하여 화이트리스트 우회 가능
대응: 802.1x 인증서 기반 EAP-TLS 사용 또는 단말 핑거프린팅 강화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4680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" cy="14447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246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에이전트 삭제/우회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630168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사용자가 endpoint-agent를 강제 종료하거나 삭제할 경우 컴플라이언스 검사 회피
대응: 에이전트리스 방식(ARP/DHCP)과 병행 — 에이전트 없어도 네트워크 차단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154680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154680"/>
            <a:ext cx="128016" cy="14447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3246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IPv6 맹점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630168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ARP는 IPv4 전용 프로토콜 — IPv6 환경에서는 NDP(Neighbor Discovery Protocol) 별도 처리 필요
IPv6 듀얼스택 네트워크에서 IPv6 경로로 제어를 우회할 수 있음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36592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736592"/>
            <a:ext cx="128016" cy="14447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82803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암호화 트래픽 불가시성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212079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TLS/HTTPS로 암호화된 트래픽의 내부 콘텐츠는 검사 불가 (메타데이터만 분석 가능)
DPI(Deep Packet Inspection)는 별도 프록시 또는 SSL Inspection 장비가 필요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736592"/>
            <a:ext cx="5669280" cy="14447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736592"/>
            <a:ext cx="128016" cy="14447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482803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가상화 / 컨테이너 환경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5212079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VM 마이그레이션이나 컨테이너 재시작 시 MAC 주소가 동적으로 변경될 수 있음
클라우드 환경에서는 CLOUD-NAC(SDP, Zero Trust Network Access) 별도 적용 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NAC 주요 기능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LEntropy NAC가 제공하는 6대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370332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27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🔍 단말 탐지 / 식별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7568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ARP 브로드캐스트 수동 감청
  • DHCP Option 55 OS 핑거프린팅
  • MAC · IP · 호스트명 · OS 자동 수집
  • 에이전트 없이도 즉시 탐지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7276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72768"/>
            <a:ext cx="3703320" cy="43891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627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✅ 인증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07568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802.1x RADIUS (Auth + Acct)
  • Captive Portal 리다이렉션
  • LDAP/AD 계정 연동 (Mock→실제)
  • JWT 기반 관리자 API 인증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57276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572768"/>
            <a:ext cx="3703320" cy="43891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627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🛡️ 정책 엔진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07568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우선순위 기반 정책 평가
  • 조건 조합 (AND / OR / NOT)
  • OS·장치유형·MAC·컴플라이언스 조건
  • 정책 즉시 평가 API (/evaluate)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9592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995928"/>
            <a:ext cx="3703320" cy="43891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50791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🚫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449884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허용(Allow) / 차단(Block) / 격리(Quarantine)
  • ARP 스푸핑 기반 L2 소프트웨어 차단
  • VLAN 동적 분리 (Phase 2)
  • 관리자 수동 제어 + 정책 자동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99592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995928"/>
            <a:ext cx="3703320" cy="43891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050791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📊 컴플라이언스 검사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49884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endpoint-agent 상태 수집 (gRPC)
  • OS 버전 · 암호화 · 보안 패치 확인
  • 컴플라이언스 위반 시 자동 격리
  • 감사 로그에 검사 결과 기록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995928"/>
            <a:ext cx="3703320" cy="22677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995928"/>
            <a:ext cx="3703320" cy="43891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7" y="4050791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📋 감사 로그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498848"/>
            <a:ext cx="34930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• 모든 접속 이벤트 자동 기록
  • 정책 변경 이력 추적
  • 시계열 조회 및 필터링
  • 법적 증거 보존 (ISMS-P 대응)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두 가지 제어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에이전트리스 vs 에이전트 기반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9496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539496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8191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에이전트리스 (Agentless)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동작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1401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sensor 서비스가 ARP/DHCP 패킷 수동 감청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791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pnet 라이브러리로 raw socket 캡처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443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DHCP Option 55 분석 → OS 핑거프린팅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954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제어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39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enforcement 서비스가 ARP 스푸핑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05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차단 대상 PC에 위조 ARP 응답 전송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702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스위치/AP 설정 변경 없이 소프트웨어로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354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006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89A"/>
                </a:solidFill>
              </a:rPr>
              <a:t>장점  ✓ 설치 불필요 · 즉시 적용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657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D6D"/>
                </a:solidFill>
              </a:rPr>
              <a:t>단점  ✗ 컴플라이언스 정보 부족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D600"/>
                </a:solidFill>
              </a:rPr>
              <a:t>VS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554480"/>
            <a:ext cx="539496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5394960" cy="50292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58191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에이전트 기반 (Agent)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1488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89A"/>
                </a:solidFill>
              </a:rPr>
              <a:t>동작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41401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PC에 endpoint-agent 데몬 설치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67919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시스템 정보 수집 (OS, 메모리, 버전)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443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gRPC로 agent-gateway에 주기적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20954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89A"/>
                </a:solidFill>
              </a:rPr>
              <a:t>제어 방식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373989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에이전트는 상태 보고만 담당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0050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실제 차단은 enforcement가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2702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컴플라이언스 위반 시 자동 격리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3542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80060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89A"/>
                </a:solidFill>
              </a:rPr>
              <a:t>장점  ✓ 상세 컴플라이언스 정보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06577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D6D"/>
                </a:solidFill>
              </a:rPr>
              <a:t>단점  ✗ 각 PC에 설치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NAC 활용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산업별 적용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1430000" cy="50292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8191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NAC는 네트워크가 존재하는 모든 환경에 적용 가능합니다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76272"/>
            <a:ext cx="210312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176272"/>
            <a:ext cx="2103120" cy="6400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🏢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880360"/>
            <a:ext cx="192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BYOD 정책 집행
퇴직자 장치 즉시 차단
부서별 접근 권한 분리
VPN 연동 보안 강화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176272"/>
            <a:ext cx="210312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2176272"/>
            <a:ext cx="21031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1945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🎓 교육기관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880360"/>
            <a:ext cx="192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학생/교직원 구분 접속
실습실 PC 자동 등록
시험 기간 외부 접속 차단
캠퍼스 Wi-Fi 인증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176272"/>
            <a:ext cx="210312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46320" y="2176272"/>
            <a:ext cx="2103120" cy="64008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21945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🏥 의료기관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2880360"/>
            <a:ext cx="192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의료기기 별도 망 격리
EMR 시스템 접근 제어
개인정보 유출 방지
HIPAA 컴플라이언스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2176272"/>
            <a:ext cx="210312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2176272"/>
            <a:ext cx="210312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21945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🏭 제조/공장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880360"/>
            <a:ext cx="192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OT/IT 망 분리
PLC·SCADA 장치 보호
외주 업체 임시 접속
산업 제어망 무단 접속 차단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2176272"/>
            <a:ext cx="210312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26880" y="2176272"/>
            <a:ext cx="2103120" cy="64008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1945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🏛️ 공공기관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7" y="2880360"/>
            <a:ext cx="192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국가보안망 접근 제어
출입 인증 연동
보안 등급별 망 분리
감사 로그 법적 증거 보존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활용 시나리오 — 기업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BYOD &amp; 내부 보안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66928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3677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시나리오 1  BYOD 직원 스마트폰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53949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Wi-Fi 연결 시 Captive Portal 표시
• 회사 계정으로 인증 후 업무망 접속 허용
• 미인증 시 인터넷 전용 Guest VLAN으로 격리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566928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669280" cy="438912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3677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시나리오 2  협력업체 방문자 노트북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3949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MAC 주소 기반 자동 탐지
• 화이트리스트 미등록 → 즉시 차단
• 임시 접속권 발급 후 만료 시 자동 해제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23360"/>
            <a:ext cx="566928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5669280" cy="43891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5993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시나리오 3  퇴직자 장치 접속 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26280"/>
            <a:ext cx="53949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LDAP 계정 비활성화 → RADIUS 거부
• 이전에 등록된 MAC도 정책으로 차단
• 보안팀 실시간 알림 발송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23360"/>
            <a:ext cx="566928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023360"/>
            <a:ext cx="5669280" cy="43891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05993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시나리오 4  악성코드 감염 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53949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endpoint-agent가 이상 프로세스 감지
• policy-manager에 위험 상태 보고
• 자동 quarantine 격리 + 감사 로그 기록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상용 NAC 솔루션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주요 제품 특장점 및 LEntropy 포지셔닝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1645920" cy="5486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91056"/>
            <a:ext cx="1554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항목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72768"/>
            <a:ext cx="1874519" cy="548640"/>
          </a:xfrm>
          <a:prstGeom prst="rect">
            <a:avLst/>
          </a:prstGeom>
          <a:solidFill>
            <a:srgbClr val="006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591056"/>
            <a:ext cx="1783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Cisco 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9352" y="1572768"/>
            <a:ext cx="1874519" cy="54864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1591056"/>
            <a:ext cx="1783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Aruba
ClearPass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70448" y="1572768"/>
            <a:ext cx="1874519" cy="548640"/>
          </a:xfrm>
          <a:prstGeom prst="rect">
            <a:avLst/>
          </a:prstGeom>
          <a:solidFill>
            <a:srgbClr val="EE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16168" y="1591056"/>
            <a:ext cx="1783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FortiNAC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81543" y="1572768"/>
            <a:ext cx="1874519" cy="548640"/>
          </a:xfrm>
          <a:prstGeom prst="rect">
            <a:avLst/>
          </a:prstGeom>
          <a:solidFill>
            <a:srgbClr val="007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3" y="1591056"/>
            <a:ext cx="178307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Forescout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39" y="1572768"/>
            <a:ext cx="2194560" cy="54864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59" y="1591056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LEntropy
(본 프로젝트)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76272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2494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가격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8256" y="217627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3976" y="222199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$$$$
(라이선스)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59352" y="217627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222199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$$$
(구독)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70448" y="217627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16168" y="222199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$$$
(라이선스)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81543" y="217627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263" y="222199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$$$
(구독)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39" y="2176272"/>
            <a:ext cx="219456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59" y="2221991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무료
(오픈소스)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16352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88950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배포 형태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48256" y="281635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93976" y="286207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어플라이언스
/VM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59352" y="281635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05072" y="286207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어플라이언스
/VM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70448" y="281635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16168" y="286207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VM
/클라우드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1543" y="281635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27263" y="286207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VM
/클라우드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39" y="2816352"/>
            <a:ext cx="2194560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59" y="28620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컨테이너
(Docker/K8s)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456432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52958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에이전트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48256" y="345643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93976" y="350215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선택 (AnyConnect)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59352" y="345643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350215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선택 (OnGuard)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70448" y="345643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16168" y="350215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선택 (FortiClient)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81543" y="345643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27263" y="350215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에이전트리스
특화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39" y="3456432"/>
            <a:ext cx="219456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38359" y="3502151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이중 방식
(선택+리스)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096511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4169663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802.1x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48256" y="4096511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93976" y="414223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59352" y="4096511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05072" y="414223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70448" y="4096511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16168" y="414223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81543" y="4096511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27263" y="414223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부분 지원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39" y="4096511"/>
            <a:ext cx="2194560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359" y="4142231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기본 지원
(RADIUS)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736592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80974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VLAN 제어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48256" y="473659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93976" y="478231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59352" y="473659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05072" y="478231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70448" y="473659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16168" y="478231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81543" y="4736592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27263" y="478231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완전 지원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692639" y="4736592"/>
            <a:ext cx="219456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38359" y="478231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예정
(Phase 2)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376672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54498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AI/이상탐지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48256" y="537667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93976" y="542239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Cisco AI
(일부)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59352" y="537667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05072" y="542239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ClearPass
Policy (일부)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70448" y="537667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16168" y="542239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FortiAI
연동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81543" y="5376672"/>
            <a:ext cx="1874519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27263" y="5422392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eyeSegment
(고급)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92639" y="5376672"/>
            <a:ext cx="2194560" cy="59436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38359" y="542239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예정
(Phase 3)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6016751"/>
            <a:ext cx="1645920" cy="59436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6089903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특장점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48256" y="6016751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93976" y="606247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Cisco 에코시스템
완벽 통합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959352" y="6016751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05072" y="606247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대규모 Wi-Fi
환경 특화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870448" y="6016751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916168" y="606247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FortiGate
방화벽 연동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81543" y="6016751"/>
            <a:ext cx="1874519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27263" y="6062471"/>
            <a:ext cx="1783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에이전트리스
강점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92639" y="6016751"/>
            <a:ext cx="219456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38359" y="6062471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C89A"/>
                </a:solidFill>
              </a:rPr>
              <a:t>경량·오픈소스
즉시 배포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개발 개요 —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LEntropy NAC Platform v0.1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2194560" cy="6400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276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🌐 Wi-Fi / 유선
스위치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600200"/>
            <a:ext cx="2194560" cy="6400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276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💻 Windows/Linux
PC (에이전트)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600200"/>
            <a:ext cx="2194560" cy="6400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16276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🔧 관리자
브라우저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RADIUS
802.1x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31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gRPC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HTTPS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34640"/>
            <a:ext cx="228600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34640"/>
            <a:ext cx="22860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62656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aaa
:8080/:1812/:1813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2834640"/>
            <a:ext cx="228600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834640"/>
            <a:ext cx="2286000" cy="109728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2962656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agent-gateway
:50051 (gRPC)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0" y="2834640"/>
            <a:ext cx="228600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2834640"/>
            <a:ext cx="2286000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59" y="2962656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api-gateway
:8000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2834640"/>
            <a:ext cx="228600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0" y="2834640"/>
            <a:ext cx="2286000" cy="10972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962656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admin-console
:3000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840480"/>
            <a:ext cx="4114800" cy="86868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3858768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🎯 policy-manager  :8001
PostgreSQL · Redis · Audit 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40480"/>
            <a:ext cx="3383280" cy="868680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85876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B4D8"/>
                </a:solidFill>
              </a:rPr>
              <a:t>📨 NATS 이벤트 버스
nac.events.* / nac.commands.*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983480"/>
            <a:ext cx="228600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983480"/>
            <a:ext cx="9144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sensor
DaemonSet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4983480"/>
            <a:ext cx="228600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34640" y="4983480"/>
            <a:ext cx="9144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520" y="50749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enforcement
DaemonSet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4983480"/>
            <a:ext cx="228600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03520" y="4983480"/>
            <a:ext cx="91440" cy="73152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50749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dhcp
DaemonSet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4983480"/>
            <a:ext cx="228600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0" y="4983480"/>
            <a:ext cx="91440" cy="7315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5279" y="50749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endpoint-agent
(PC 설치)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943600"/>
            <a:ext cx="11430000" cy="5943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</a:rPr>
              <a:t>공통 인프라:  PostgreSQL :5432   Redis :6379   NATS :4222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선택 이유와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66928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4572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3677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⚙️  Backend — 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12264"/>
            <a:ext cx="539496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Axum 0.8: 비동기 HTTP 프레임워크
• tonic 0.12: gRPC 서버/클라이언트
• sqlx 0.8: 비동기 PostgreSQL (컴파일 타임 SQL 검증)
• async-nats: NATS 이벤트 발행/구독
• pnet 0.35: raw socket 패킷 처리
선택 이유: 시스템 프로그래밍 수준의 성능 + 메모리 안전성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566928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66928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3677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🌐  Frontend — React/TypeScript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12264"/>
            <a:ext cx="539496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React 18 + Vite: 빠른 빌드 환경
• TypeScript 5.6: 타입 안전성
• Tailwind CSS: 빠른 UI 스타일링
• Recharts: 통계 차트
• Axios: API 통신 + JWT 토큰 관리
선택 이유: 생산성 높은 SPA + 타입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566928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69080"/>
            <a:ext cx="5669280" cy="45720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10565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🔌 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81144"/>
            <a:ext cx="539496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RADIUS RFC 2865/2866: 802.1x 표준 인증
• Protocol Buffers + gRPC: 에이전트 통신
• DHCP RFC 2131: IP 주소 관리
• JWT (HS256): API 인증
• ARP: L2 레벨 네트워크 제어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69080"/>
            <a:ext cx="566928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069080"/>
            <a:ext cx="5669280" cy="4572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0565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</a:rPr>
              <a:t>☁️  인프라 &amp; 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81144"/>
            <a:ext cx="5394960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Docker Compose: 로컬 개발 환경
• Kubernetes + Helm: 프로덕션 배포
• DaemonSet: 네트워크 서비스 (sensor/enforcement)
• PostgreSQL 16: 단말/정책 데이터
• Redis 7: 캐시/세션
• NATS 2.10 JetStream: 이벤트 스트리밍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구현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컴포넌트별 완성도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502920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91056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컴포넌트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572768"/>
            <a:ext cx="365760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59105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572768"/>
            <a:ext cx="2606040" cy="347472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9105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65960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1965960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1965960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00253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policy-manager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0025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핵심 정책 엔진 + REST API +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002536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68296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40680" y="2368296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2368296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0487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sensor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4048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ARP/DHCP 패킷 감청 + NATS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40487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70632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40680" y="2770632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770632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80720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enforcement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0720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ARP 스푸핑 기반 L2 차단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2807208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72968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40680" y="3172968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172968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2095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aaa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20954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RADIUS Auth/Acct + Captive Portal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3209544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75304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40680" y="3575304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3575304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61188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agent-gateway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361188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gRPC 수신 + policy-manager 연동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611880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39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40680" y="3977639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3977639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014215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api-gateway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401421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JWT 인증 + REST 프록시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014215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9976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40680" y="4379976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379976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41655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endpoint-agent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77840" y="441655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Win/Linux 에이전트 + 컴플라이언스 검사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441655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82312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40680" y="4782312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0" y="4782312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818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dhcp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0" y="48188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DHCPv4 서버 + MAC 고정 할당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4818888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84648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0680" y="5184648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0" y="5184648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22122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admin-console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77840" y="52212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React 관리 UI + 대시보드/정책/감사로그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81160" y="5221224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586983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40680" y="5586983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0" y="5586983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23559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Helm Chart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56235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Kubernetes 전체 스택 배포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81160" y="5623559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A"/>
                </a:solidFill>
              </a:rPr>
              <a:t>완료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989320"/>
            <a:ext cx="5029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40680" y="5989320"/>
            <a:ext cx="36576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989320"/>
            <a:ext cx="260604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602589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EAP-TLS/PEAP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602589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802.1x 전체 핸드셰이크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025896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42"/>
                </a:solidFill>
              </a:rPr>
              <a:t>구조체 완성
(인증서 연동 필요)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6391656"/>
            <a:ext cx="50292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440680" y="6391656"/>
            <a:ext cx="365760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0" y="6391656"/>
            <a:ext cx="2606040" cy="384048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920" y="642823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LDAP 연동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77840" y="642823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AD 계정 실제 연동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81160" y="642823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42"/>
                </a:solidFill>
              </a:rPr>
              <a:t>Mock 구현
(설정으로 활성화)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Ubuntu 서버 + Windows 10 클라이언트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81912"/>
            <a:ext cx="914400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691640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2E"/>
                </a:solidFill>
              </a:rPr>
              <a:t>STEP 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1581912"/>
            <a:ext cx="1042416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6184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서버 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96596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docker compose up -d
8개 서비스 자동 시작 (PostgreSQL · Redis · NATS · 앱 서비스)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96312"/>
            <a:ext cx="914400" cy="77724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606040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2E"/>
                </a:solidFill>
              </a:rPr>
              <a:t>STEP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5880" y="2496312"/>
            <a:ext cx="1042416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25328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3D91"/>
                </a:solidFill>
              </a:rPr>
              <a:t>Admin Console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88036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브라우저 → http://&lt;서버IP&gt;:3000
admin / changeme 로그인 → JWT 발급 → 대시보드 이동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10712"/>
            <a:ext cx="914400" cy="77724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3520440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2E"/>
                </a:solidFill>
              </a:rP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3410712"/>
            <a:ext cx="1042416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447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89A"/>
                </a:solidFill>
              </a:rPr>
              <a:t>Windows 에이전트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79476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endpoint-agent.exe 실행 (PowerShell)
30초 후 Endpoints 목록에 DESKTOP-xxx 자동 등록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25112"/>
            <a:ext cx="914400" cy="77724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4434840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2E"/>
                </a:solidFill>
              </a:rPr>
              <a:t>STEP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4325112"/>
            <a:ext cx="1042416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43616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단말 제어 &amp; 정책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70916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Allow → Block → Quarantine 버튼 클릭
정책 평가 실행 → 전체 단말 일괄 정책 적용 · 감사 로그 기록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239512"/>
            <a:ext cx="914400" cy="7772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349240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2E"/>
                </a:solidFill>
              </a:rPr>
              <a:t>STEP 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5239512"/>
            <a:ext cx="1042416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52760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RADIUS 인증 테스트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623560"/>
            <a:ext cx="10149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radtest admin changeme localhost 0 radius-shared-secret
Access-Accept 응답 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보안 고려사항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프로덕션 적용 전 필수 체크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09728" cy="10789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733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🔑 JWT_SECRET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39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기본값 'change-me...' → 최소 32자 무작위 문자열 교체 필수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109728" cy="10789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🔐 RADIUS_SECRET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39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기본값 'radius-shared-secret' → 강력한 시크릿으로 교체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70632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770632"/>
            <a:ext cx="109728" cy="10789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437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</a:rPr>
              <a:t>🔒 ADMIN_PASS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20954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기본값 'changeme' → 즉시 변경 (브루트포스 공격 대상)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770632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770632"/>
            <a:ext cx="109728" cy="107899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437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🗄️ DB 비밀번호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0954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PostgreSQL nac_dev_password → 프로덕션 강력한 비밀번호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941064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941064"/>
            <a:ext cx="109728" cy="107899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1421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🌐 TLS 인증서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37997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API Gateway / Admin Console에 HTTPS 적용 (cert-manager 권장)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941064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941064"/>
            <a:ext cx="109728" cy="107899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1421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</a:rPr>
              <a:t>📡 RADIUS UDP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7997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1812/1813 포트를 NAS 장비 IP로만 방화벽 제한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111496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5111496"/>
            <a:ext cx="109728" cy="10789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1846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🏗️ 권한 격리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55040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sensor/enforcement는 NET_RAW 권한 필요 → 전용 노드에 격리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5111496"/>
            <a:ext cx="5669280" cy="10789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5111496"/>
            <a:ext cx="109728" cy="10789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1846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📋 LDAP/AD 연동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55040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LDAP_URL 환경변수 설정으로 실제 AD 계정 인증 활성화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향후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단계별 발전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3703320" cy="4754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3703320" cy="594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81912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2E"/>
                </a:solidFill>
              </a:rPr>
              <a:t>Phase 1
(1~2개월)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EAP-TLS/PEAP 완전 구현 (인증서 연동)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07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LDAP/AD 실제 연동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74136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Windows Defender 예외 자동화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4106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에이전트 Windows 서비스 설치 패키지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554480"/>
            <a:ext cx="3703320" cy="4754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54480"/>
            <a:ext cx="3703320" cy="594360"/>
          </a:xfrm>
          <a:prstGeom prst="rect">
            <a:avLst/>
          </a:prstGeom>
          <a:solidFill>
            <a:srgbClr val="00C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81912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2E"/>
                </a:solidFill>
              </a:rPr>
              <a:t>Phase 2
(3~4개월)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4028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VLAN 동적 할당 (802.1q 태깅)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07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위협 인텔리전스 연동 (CVE 피드)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macOS 에이전트 지원 (Apple Silicon)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94106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알림 연동 (Slack / 이메일 / SMS)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703320" cy="4754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554480"/>
            <a:ext cx="3703320" cy="5943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581912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2E"/>
                </a:solidFill>
              </a:rPr>
              <a:t>Phase 3
(5~6개월)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4028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AI 기반 이상 행위 탐지 (ML 모델)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0720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멀티 테넌트 관리 (MSP 지원)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374136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OpenTelemetry 분산 추적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94106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▸  SOC/SIEM 연동 (Splunk / ELK)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12745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핵심 가치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4D8"/>
                </a:solidFill>
              </a:rPr>
              <a:t>LEntropy NAC Platform이 제공하는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502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CCCCC"/>
                </a:solidFill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🚀 즉시 배포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12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7685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docker compose up -d
한 명령으로 전체 스택 기동
추가 설정 없이 즉시 테스트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70992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🔒 이중 제어 방식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16712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27685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에이전트리스 + 에이전트 동시 지원
설치 불가 장치도 ARP 스푸핑으로 차단
두 방식의 정보를 통합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0020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70992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📊 완전한 가시성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16712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27685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모든 접속 이력 자동 감사 로그
실시간 단말 현황 대시보드
정책 변경 이력 추적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⚡ 고성능 Rust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9884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60857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 수준 성능 + 메모리 안전성
수만 단말 동시 처리 가능
최소 리소스로 최대 처리량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93192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04164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☁️ 클라우드 네이티브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449884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60857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Kubernetes Helm 차트 제공
DaemonSet / Deployment 분리
수평 확장(Scale-out) 지원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931920"/>
            <a:ext cx="3703320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04164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4D8"/>
                </a:solidFill>
              </a:rPr>
              <a:t>🧩 표준 프로토콜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498848"/>
            <a:ext cx="3520440" cy="36576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608576"/>
            <a:ext cx="34290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RADIUS RFC 2865 준수
gRPC / Protocol Buffers
기존 NAS 장비와 호환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28600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74903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B4D8"/>
                </a:solidFill>
              </a:rPr>
              <a:t>질문과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606040"/>
            <a:ext cx="71323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834640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🔗 GitHub:  github.com/LEntropy/LEntropy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310128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📦 Branch:  claude/setup-dev-environment-5cxDF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85616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📋 Docs:    docs/deployment.md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261104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🧪 테스트:  docs/test-guide.md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36592"/>
            <a:ext cx="7406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🚀 기동:    docker compose up -d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669280"/>
            <a:ext cx="71323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5742432"/>
            <a:ext cx="6949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B4D8"/>
                </a:solidFill>
              </a:rPr>
              <a:t>LEntropy NAC Platform  v0.1  |  Rust + React + Kubernetes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